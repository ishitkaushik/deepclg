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5" r:id="rId4"/>
    <p:sldId id="268" r:id="rId5"/>
    <p:sldId id="260" r:id="rId6"/>
    <p:sldId id="262" r:id="rId7"/>
    <p:sldId id="266" r:id="rId8"/>
    <p:sldId id="267" r:id="rId9"/>
    <p:sldId id="272" r:id="rId10"/>
    <p:sldId id="270" r:id="rId11"/>
    <p:sldId id="273" r:id="rId12"/>
    <p:sldId id="274"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0BAB5-210B-6B4C-9F6E-33A89CAD27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4B1768-92E9-30B8-F064-3C429F55D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048E78-AC5B-DC87-8A6F-982B0093C0A4}"/>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2E3A826E-AF83-1BD6-BE64-7B9B4967CF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70CDB-548C-4186-7494-11E69B04DDAA}"/>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68082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4110-0464-C439-1FB0-3A13CFCAB0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C1D485-2C3A-89A1-9E91-809ACCCBE6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A9422-DE25-2A2A-2843-A2B6FA9CED2C}"/>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680F7192-B28D-B521-1CA6-8F2DAC0732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B74A91-CD0B-054B-18DC-2FE71119F103}"/>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32813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CAC0-D595-5899-02FD-F03AD942C5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089F56-3E96-93CB-B795-0E7D96371D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4E2C95-D1D6-C5EE-0CCD-40F7FD77CDCA}"/>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C6720034-6194-E030-B37E-B755DA5B92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15971B-19BF-B838-9BD1-E433A8650CBB}"/>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71477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DAE9-4B89-836F-01F8-113C55C737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DAEF60-A832-6121-2D97-4A472E4420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F43E22-0593-9485-AB9A-C427C1C281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F741C6-3BA2-7C04-6E6E-062BECCE1239}"/>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4100D0AD-D636-EFC7-8D77-48D13B572F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286B77-3CDE-B596-1FED-DA4E6842BBD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100352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8A672-D195-FB34-F43B-20FF6DB6F9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798372-7E02-4469-523A-176D594980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B1078-B298-8B18-A498-6159B68A7F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E3FE49-74DB-78A8-8846-29BE09D344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41E736-D79B-2323-2E51-A053BB7D18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AF195C-0BA9-1809-4C58-337C4329F481}"/>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8" name="Footer Placeholder 7">
            <a:extLst>
              <a:ext uri="{FF2B5EF4-FFF2-40B4-BE49-F238E27FC236}">
                <a16:creationId xmlns:a16="http://schemas.microsoft.com/office/drawing/2014/main" id="{1447D6AE-CDB7-FC97-CA65-E93AEB6E2C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007143-2C9C-D28F-3F11-0746F1A87A9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46800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5186A-F3B5-9FD4-6BE5-9C5C8D7127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091DB7-4A79-57EA-21B4-230FE0E78312}"/>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4" name="Footer Placeholder 3">
            <a:extLst>
              <a:ext uri="{FF2B5EF4-FFF2-40B4-BE49-F238E27FC236}">
                <a16:creationId xmlns:a16="http://schemas.microsoft.com/office/drawing/2014/main" id="{A88BF81F-6981-218C-8A6B-705CDC8C60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6EF8DB6-7B55-385C-6906-6A2C14BB952B}"/>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278362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44FAA-B702-856C-1337-9C7A757BEB21}"/>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3" name="Footer Placeholder 2">
            <a:extLst>
              <a:ext uri="{FF2B5EF4-FFF2-40B4-BE49-F238E27FC236}">
                <a16:creationId xmlns:a16="http://schemas.microsoft.com/office/drawing/2014/main" id="{1DF8BF2E-9740-F9F4-38E0-0C9F14C20E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0B76C1-9EF4-F2A9-1969-38D88D6DE9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070044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59637-9564-1207-191F-2CABC734AD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4732CA-4857-410D-FFAF-1901C7EA45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DFE1A3-BFF8-E4B3-1534-6B9CB44E0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FDBEB9-4E4A-4A4A-5AB8-7A586AF90EB1}"/>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D5375D0C-C8B9-9ED8-92FC-87B4356A59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4FE93B-BA51-EF1D-5276-E63D5EA5DD03}"/>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9796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17116-DC0B-C79C-145D-311DB07C6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E9C4D2-386A-F04A-2884-80F95A50C0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648A08-3B82-BFB4-283A-29385039E3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B1B9F-A329-A787-EBA7-F97E2DD005C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C895F4B7-3DDD-5F77-0365-658FEDB83B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02288E-9D8B-B2E2-6953-65E9BB0692EA}"/>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16705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37EC8-6014-0194-0340-B2624D8FA1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217956-D0D7-D6F3-141B-8634CADA7A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5A2E0-0EA0-5F20-AB4C-79191A624043}"/>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31F78F95-4D92-B1E8-31E3-4E9F582AEE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C21F16-F2EE-2864-3573-FE3A08D2BA2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59125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13688F-CA80-2CCA-79D3-4C4F57D574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39248A-6E5A-C058-1AE1-8CDD01960C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8102D7-E096-3D16-EA0C-22D5287E0893}"/>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E8599021-1C3A-8605-8622-7DE3F63DE1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079258-C069-157D-9E62-AA1A08CB7A4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25178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24C83-C606-D2D5-2952-B11EDEB190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DEC131-F002-2784-1C0A-EE48F4449E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A3F542-D775-5052-6A64-BD412828D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5224BE12-938E-56DF-3626-9784538BE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FE44960-07C1-BD20-7F06-C6DD1ECA4B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38731871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710812" y="3333134"/>
            <a:ext cx="8957187" cy="579645"/>
          </a:xfrm>
        </p:spPr>
        <p:txBody>
          <a:bodyPr>
            <a:normAutofit fontScale="90000"/>
          </a:bodyPr>
          <a:lstStyle/>
          <a:p>
            <a:br>
              <a:rPr lang="en-IN" dirty="0"/>
            </a:br>
            <a:br>
              <a:rPr lang="en-IN" dirty="0"/>
            </a:br>
            <a:r>
              <a:rPr lang="en-IN" b="1" dirty="0"/>
              <a:t>Network Anomaly detection in Healthcare IOT environment </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658761" y="4890977"/>
            <a:ext cx="3658037" cy="1222744"/>
          </a:xfrm>
        </p:spPr>
        <p:txBody>
          <a:bodyPr>
            <a:normAutofit fontScale="92500"/>
          </a:bodyPr>
          <a:lstStyle/>
          <a:p>
            <a:r>
              <a:rPr lang="en-IN" b="1" dirty="0"/>
              <a:t>Submitted By:</a:t>
            </a:r>
            <a:br>
              <a:rPr lang="en-IN" b="1" dirty="0"/>
            </a:br>
            <a:r>
              <a:rPr lang="en-IN" dirty="0"/>
              <a:t>ISHIT KAUSHIK</a:t>
            </a:r>
          </a:p>
          <a:p>
            <a:r>
              <a:rPr lang="en-IN" dirty="0"/>
              <a:t>Registration No. 2427030038</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b="1" dirty="0"/>
              <a:t>Supervised By:</a:t>
            </a:r>
            <a:br>
              <a:rPr lang="en-IN" b="1" dirty="0"/>
            </a:br>
            <a:r>
              <a:rPr lang="en-IN" dirty="0"/>
              <a:t>Dr. Usha Jain</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179871" y="1130710"/>
            <a:ext cx="9934718" cy="9242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000" b="1" dirty="0"/>
              <a:t>School of Computer Science and Engineering, 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b="1" u="sng"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normAutofit/>
          </a:bodyPr>
          <a:lstStyle/>
          <a:p>
            <a:pPr marL="0" indent="0">
              <a:buNone/>
            </a:pPr>
            <a:r>
              <a:rPr lang="en-IN" b="1" dirty="0"/>
              <a:t>The rise of Healthcare IOT (H-IOT)</a:t>
            </a:r>
          </a:p>
          <a:p>
            <a:pPr marL="0" indent="0">
              <a:buNone/>
            </a:pPr>
            <a:r>
              <a:rPr lang="en-IN" sz="1800" dirty="0"/>
              <a:t>The healthcare sector remains one of the fastest to adopt and adapt to IOT, with the recent advances in IOT, sensors and AI to transform and revolutionize electronic healthcare into a connected ecosystem.</a:t>
            </a:r>
          </a:p>
          <a:p>
            <a:pPr marL="0" indent="0">
              <a:buNone/>
            </a:pPr>
            <a:r>
              <a:rPr lang="en-US" sz="1800" dirty="0"/>
              <a:t>Through smart devices, wearable sensors, and connected medical equipment, hospitals can now collect real-time data such as heart rate, blood pressure, and oxygen levels directly from patients.</a:t>
            </a:r>
          </a:p>
          <a:p>
            <a:pPr marL="0" indent="0">
              <a:buNone/>
            </a:pPr>
            <a:endParaRPr lang="en-US" sz="1800" dirty="0"/>
          </a:p>
          <a:p>
            <a:pPr marL="0" indent="0">
              <a:buNone/>
            </a:pPr>
            <a:r>
              <a:rPr lang="en-US" sz="1800" dirty="0"/>
              <a:t>This network of smart and connected devices will collect the data automatically, that can be controlled remotely across the existing </a:t>
            </a:r>
            <a:r>
              <a:rPr lang="en-US" sz="1800" b="1" dirty="0"/>
              <a:t>Network Architecture</a:t>
            </a:r>
            <a:r>
              <a:rPr lang="en-US" sz="1800" dirty="0"/>
              <a:t>, </a:t>
            </a:r>
            <a:r>
              <a:rPr lang="en-IN" sz="1800" dirty="0"/>
              <a:t>then </a:t>
            </a:r>
            <a:r>
              <a:rPr lang="en-US" sz="1800" dirty="0"/>
              <a:t>this data can be analyzed by the doctors.</a:t>
            </a:r>
          </a:p>
          <a:p>
            <a:pPr marL="0" indent="0">
              <a:buNone/>
            </a:pPr>
            <a:r>
              <a:rPr lang="en-US" sz="1800" dirty="0"/>
              <a:t>This digital connection offers many benefits, such as remote patient monitoring and telemedicine;</a:t>
            </a:r>
          </a:p>
          <a:p>
            <a:pPr marL="0" indent="0">
              <a:buNone/>
            </a:pPr>
            <a:r>
              <a:rPr lang="en-US" sz="1800" dirty="0"/>
              <a:t>It helps in the early detection of health problems; </a:t>
            </a:r>
            <a:r>
              <a:rPr lang="en-US" sz="1800" b="1" dirty="0"/>
              <a:t>(advantages)</a:t>
            </a:r>
          </a:p>
          <a:p>
            <a:pPr marL="0" indent="0">
              <a:buNone/>
            </a:pPr>
            <a:r>
              <a:rPr lang="en-US" sz="1800" dirty="0"/>
              <a:t>It helps reduce hospital workload and improves patient care by enabling continuous attention and personalized treatment for every patient. </a:t>
            </a:r>
            <a:r>
              <a:rPr lang="en-US" sz="1800" b="1" dirty="0"/>
              <a:t>(benefits and opportunities)</a:t>
            </a:r>
            <a:endParaRPr lang="en-IN" sz="1800" b="1" dirty="0"/>
          </a:p>
        </p:txBody>
      </p:sp>
    </p:spTree>
    <p:extLst>
      <p:ext uri="{BB962C8B-B14F-4D97-AF65-F5344CB8AC3E}">
        <p14:creationId xmlns:p14="http://schemas.microsoft.com/office/powerpoint/2010/main" val="2878976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5A479-7260-B32A-8294-10A6FC3CD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9DE75-6F6B-81FD-E46D-F97A1D7BA9F6}"/>
              </a:ext>
            </a:extLst>
          </p:cNvPr>
          <p:cNvSpPr>
            <a:spLocks noGrp="1"/>
          </p:cNvSpPr>
          <p:nvPr>
            <p:ph type="title"/>
          </p:nvPr>
        </p:nvSpPr>
        <p:spPr/>
        <p:txBody>
          <a:bodyPr/>
          <a:lstStyle/>
          <a:p>
            <a:endParaRPr lang="en-IN" b="1" u="sng" dirty="0"/>
          </a:p>
        </p:txBody>
      </p:sp>
      <p:sp>
        <p:nvSpPr>
          <p:cNvPr id="3" name="Content Placeholder 2">
            <a:extLst>
              <a:ext uri="{FF2B5EF4-FFF2-40B4-BE49-F238E27FC236}">
                <a16:creationId xmlns:a16="http://schemas.microsoft.com/office/drawing/2014/main" id="{531F393D-C5AE-00FA-F4F7-BCC14E436857}"/>
              </a:ext>
            </a:extLst>
          </p:cNvPr>
          <p:cNvSpPr>
            <a:spLocks noGrp="1"/>
          </p:cNvSpPr>
          <p:nvPr>
            <p:ph idx="1"/>
          </p:nvPr>
        </p:nvSpPr>
        <p:spPr/>
        <p:txBody>
          <a:bodyPr>
            <a:normAutofit/>
          </a:bodyPr>
          <a:lstStyle/>
          <a:p>
            <a:pPr marL="0" indent="0">
              <a:buNone/>
            </a:pPr>
            <a:r>
              <a:rPr lang="en-IN" b="1" dirty="0"/>
              <a:t>Security concerns and issues</a:t>
            </a:r>
          </a:p>
          <a:p>
            <a:pPr marL="0" indent="0">
              <a:buNone/>
            </a:pPr>
            <a:r>
              <a:rPr lang="en-US" sz="1800" dirty="0"/>
              <a:t>The rapid growth of IoT devices in healthcare has created serious security risks.</a:t>
            </a:r>
            <a:endParaRPr lang="en-IN" sz="1800" dirty="0"/>
          </a:p>
          <a:p>
            <a:pPr marL="0" indent="0">
              <a:buNone/>
            </a:pPr>
            <a:r>
              <a:rPr lang="en-US" sz="1800" dirty="0"/>
              <a:t>Current trends and challenges in H-IoT stress the importance of intelligent intrusion detection.</a:t>
            </a:r>
          </a:p>
          <a:p>
            <a:pPr marL="0" indent="0">
              <a:buNone/>
            </a:pPr>
            <a:r>
              <a:rPr lang="en-US" sz="1800" dirty="0"/>
              <a:t>Existing </a:t>
            </a:r>
            <a:r>
              <a:rPr lang="en-US" sz="1800" b="1" dirty="0"/>
              <a:t>intrusion detection systems </a:t>
            </a:r>
            <a:r>
              <a:rPr lang="en-US" sz="1800" dirty="0"/>
              <a:t>often fail to identify new or evolving cyberattacks because they lack adaptability and struggle with complex data.</a:t>
            </a:r>
          </a:p>
          <a:p>
            <a:pPr marL="0" indent="0">
              <a:buNone/>
            </a:pPr>
            <a:endParaRPr lang="en-US" sz="1800" dirty="0"/>
          </a:p>
          <a:p>
            <a:pPr marL="0" indent="0">
              <a:buNone/>
            </a:pPr>
            <a:r>
              <a:rPr lang="en-US" sz="1800" dirty="0"/>
              <a:t>A successful network anomaly, such as a </a:t>
            </a:r>
            <a:r>
              <a:rPr lang="en-US" sz="1800" b="1" dirty="0"/>
              <a:t>DOS</a:t>
            </a:r>
            <a:r>
              <a:rPr lang="en-US" sz="1800" dirty="0"/>
              <a:t> attack, could disrupt the communication of critical H-IoT devices like remote monitors and connected medical equipment.</a:t>
            </a:r>
          </a:p>
          <a:p>
            <a:pPr marL="0" indent="0">
              <a:buNone/>
            </a:pPr>
            <a:r>
              <a:rPr lang="en-US" sz="1800" dirty="0"/>
              <a:t>This loss of real-time connection would prevent doctors from analyzing automated data and could stop continuous attention and personalized treatment, negating it’s main benefits</a:t>
            </a:r>
            <a:endParaRPr lang="en-IN" sz="1800" dirty="0"/>
          </a:p>
          <a:p>
            <a:pPr marL="0" indent="0">
              <a:buNone/>
            </a:pPr>
            <a:endParaRPr lang="en-IN" sz="1800" dirty="0"/>
          </a:p>
        </p:txBody>
      </p:sp>
    </p:spTree>
    <p:extLst>
      <p:ext uri="{BB962C8B-B14F-4D97-AF65-F5344CB8AC3E}">
        <p14:creationId xmlns:p14="http://schemas.microsoft.com/office/powerpoint/2010/main" val="3873404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DC09-613E-8A9E-D6CA-9CCB418AFF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A7FC98-897B-2F72-E912-0C4A71FE7534}"/>
              </a:ext>
            </a:extLst>
          </p:cNvPr>
          <p:cNvSpPr>
            <a:spLocks noGrp="1"/>
          </p:cNvSpPr>
          <p:nvPr>
            <p:ph idx="1"/>
          </p:nvPr>
        </p:nvSpPr>
        <p:spPr/>
        <p:txBody>
          <a:bodyPr/>
          <a:lstStyle/>
          <a:p>
            <a:pPr marL="0" indent="0">
              <a:buNone/>
            </a:pPr>
            <a:r>
              <a:rPr lang="en-IN" b="1" dirty="0"/>
              <a:t>Why focus on DDOS attacks ?</a:t>
            </a:r>
          </a:p>
          <a:p>
            <a:pPr marL="0" indent="0">
              <a:buNone/>
            </a:pPr>
            <a:r>
              <a:rPr lang="en-US" sz="1800" dirty="0"/>
              <a:t>DDoS attacks are the </a:t>
            </a:r>
            <a:r>
              <a:rPr lang="en-US" sz="1800" b="1" dirty="0"/>
              <a:t>most common and most harmful</a:t>
            </a:r>
            <a:r>
              <a:rPr lang="en-US" sz="1800" dirty="0"/>
              <a:t> attacks in IoT and healthcare networks. </a:t>
            </a:r>
          </a:p>
          <a:p>
            <a:pPr marL="0" indent="0">
              <a:buNone/>
            </a:pPr>
            <a:r>
              <a:rPr lang="en-US" sz="1800" dirty="0"/>
              <a:t>They come from many infected devices at once, flooding the target with massive traffic and disrupting critical medical communication. Even a few seconds of downtime can affect patient safety. </a:t>
            </a:r>
          </a:p>
          <a:p>
            <a:pPr marL="0" indent="0">
              <a:buNone/>
            </a:pPr>
            <a:r>
              <a:rPr lang="en-US" sz="1800" dirty="0"/>
              <a:t>DDoS patterns are also easier to study for deep learning models, making them suitable for a research-based project. Focusing on DDoS keeps the work </a:t>
            </a:r>
            <a:r>
              <a:rPr lang="en-US" sz="1800" b="1" dirty="0"/>
              <a:t>clear, manageable, and directly relevant</a:t>
            </a:r>
            <a:r>
              <a:rPr lang="en-US" sz="1800" dirty="0"/>
              <a:t> to real IoT security issues.</a:t>
            </a:r>
          </a:p>
          <a:p>
            <a:pPr marL="0" indent="0">
              <a:buNone/>
            </a:pPr>
            <a:endParaRPr lang="en-US" sz="1800" dirty="0"/>
          </a:p>
          <a:p>
            <a:pPr marL="0" indent="0">
              <a:buNone/>
            </a:pPr>
            <a:r>
              <a:rPr lang="en-US" sz="1800" b="1" u="sng" dirty="0"/>
              <a:t>Other types of IoT attacks </a:t>
            </a:r>
            <a:r>
              <a:rPr lang="en-US" sz="1800" dirty="0"/>
              <a:t>: </a:t>
            </a:r>
            <a:r>
              <a:rPr lang="en-US" sz="1800" b="1" dirty="0"/>
              <a:t>brute-force attacks </a:t>
            </a:r>
            <a:r>
              <a:rPr lang="en-US" sz="1800" dirty="0"/>
              <a:t>and</a:t>
            </a:r>
            <a:r>
              <a:rPr lang="en-US" sz="1800" b="1" dirty="0"/>
              <a:t> malware-based attacks;</a:t>
            </a:r>
            <a:endParaRPr lang="en-US" sz="1800" dirty="0"/>
          </a:p>
          <a:p>
            <a:pPr marL="0" indent="0">
              <a:buNone/>
            </a:pPr>
            <a:r>
              <a:rPr lang="en-US" sz="1800" dirty="0"/>
              <a:t>In a brute-force attack, the attacker keeps trying different passwords until one works. Many IoT devices still use weak or default passwords, making them easy to break into and allowing attackers to gain full control. </a:t>
            </a:r>
          </a:p>
          <a:p>
            <a:pPr marL="0" indent="0">
              <a:buNone/>
            </a:pPr>
            <a:r>
              <a:rPr lang="en-US" sz="1800" dirty="0"/>
              <a:t>Malware attacks, such as the Mirai botnet, infect IoT devices like cameras and routers and turn them into bots. These infected devices are then used to launch large DDoS attacks, making Mirai one of the most dangerous threats to IoT and healthcare networks.</a:t>
            </a:r>
            <a:endParaRPr lang="en-IN" sz="1800" dirty="0"/>
          </a:p>
        </p:txBody>
      </p:sp>
    </p:spTree>
    <p:extLst>
      <p:ext uri="{BB962C8B-B14F-4D97-AF65-F5344CB8AC3E}">
        <p14:creationId xmlns:p14="http://schemas.microsoft.com/office/powerpoint/2010/main" val="2474438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b="1" u="sng"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normAutofit/>
          </a:bodyPr>
          <a:lstStyle/>
          <a:p>
            <a:pPr marL="0" indent="0">
              <a:buNone/>
            </a:pPr>
            <a:r>
              <a:rPr lang="en-US" sz="2400" dirty="0"/>
              <a:t>The rapid growth of IoT devices in healthcare has improved patient monitoring and data management. </a:t>
            </a:r>
          </a:p>
          <a:p>
            <a:pPr marL="0" indent="0">
              <a:buNone/>
            </a:pPr>
            <a:r>
              <a:rPr lang="en-US" sz="2400" dirty="0"/>
              <a:t>However, it has also created serious security risks.</a:t>
            </a:r>
          </a:p>
          <a:p>
            <a:pPr marL="0" indent="0">
              <a:buNone/>
            </a:pPr>
            <a:r>
              <a:rPr lang="en-US" sz="2400" dirty="0"/>
              <a:t>Current intrusion detection systems often fail to identify new or evolving cyberattacks because they lack adaptability and struggle with complex data.</a:t>
            </a:r>
          </a:p>
          <a:p>
            <a:pPr marL="0" indent="0">
              <a:buNone/>
            </a:pPr>
            <a:endParaRPr lang="en-IN" sz="2400" dirty="0"/>
          </a:p>
        </p:txBody>
      </p:sp>
    </p:spTree>
    <p:extLst>
      <p:ext uri="{BB962C8B-B14F-4D97-AF65-F5344CB8AC3E}">
        <p14:creationId xmlns:p14="http://schemas.microsoft.com/office/powerpoint/2010/main" val="2374707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b="1" u="sng"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normAutofit/>
          </a:bodyPr>
          <a:lstStyle/>
          <a:p>
            <a:pPr>
              <a:buFont typeface="Wingdings" panose="05000000000000000000" pitchFamily="2" charset="2"/>
              <a:buChar char="§"/>
            </a:pPr>
            <a:r>
              <a:rPr lang="en-US" sz="2400" b="1" dirty="0"/>
              <a:t>Reduce false alarms</a:t>
            </a:r>
            <a:r>
              <a:rPr lang="en-US" sz="2400" dirty="0"/>
              <a:t> and maximize the correct classification of network traffic.</a:t>
            </a:r>
          </a:p>
          <a:p>
            <a:pPr>
              <a:buFont typeface="Wingdings" panose="05000000000000000000" pitchFamily="2" charset="2"/>
              <a:buChar char="§"/>
            </a:pPr>
            <a:endParaRPr lang="en-US" sz="2400" dirty="0"/>
          </a:p>
          <a:p>
            <a:pPr>
              <a:buFont typeface="Wingdings" panose="05000000000000000000" pitchFamily="2" charset="2"/>
              <a:buChar char="§"/>
            </a:pPr>
            <a:r>
              <a:rPr lang="en-US" sz="2400" dirty="0"/>
              <a:t>Provide </a:t>
            </a:r>
            <a:r>
              <a:rPr lang="en-US" sz="2400" b="1" dirty="0"/>
              <a:t>fast, reliable attack predictions</a:t>
            </a:r>
            <a:r>
              <a:rPr lang="en-US" sz="2400" dirty="0"/>
              <a:t> for immediate, practical deployment.</a:t>
            </a:r>
          </a:p>
          <a:p>
            <a:pPr>
              <a:buFont typeface="Wingdings" panose="05000000000000000000" pitchFamily="2" charset="2"/>
              <a:buChar char="§"/>
            </a:pPr>
            <a:endParaRPr lang="en-IN" sz="2400" dirty="0"/>
          </a:p>
          <a:p>
            <a:pPr>
              <a:buFont typeface="Wingdings" panose="05000000000000000000" pitchFamily="2" charset="2"/>
              <a:buChar char="§"/>
            </a:pPr>
            <a:r>
              <a:rPr lang="en-US" sz="2400" dirty="0"/>
              <a:t>Integrate </a:t>
            </a:r>
            <a:r>
              <a:rPr lang="en-US" sz="2400" b="1" dirty="0" err="1"/>
              <a:t>DeepCLG</a:t>
            </a:r>
            <a:r>
              <a:rPr lang="en-US" sz="2400" dirty="0"/>
              <a:t> (CNN+LSTM+GRU) with attention mechanisms to selectively focus on and capture complex </a:t>
            </a:r>
            <a:r>
              <a:rPr lang="en-US" sz="2400" dirty="0" err="1"/>
              <a:t>spatio</a:t>
            </a:r>
            <a:r>
              <a:rPr lang="en-US" sz="2400" dirty="0"/>
              <a:t>-temporal threat patterns.</a:t>
            </a:r>
            <a:endParaRPr lang="en-IN" sz="2400" dirty="0"/>
          </a:p>
        </p:txBody>
      </p:sp>
    </p:spTree>
    <p:extLst>
      <p:ext uri="{BB962C8B-B14F-4D97-AF65-F5344CB8AC3E}">
        <p14:creationId xmlns:p14="http://schemas.microsoft.com/office/powerpoint/2010/main" val="354709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4ED1-E3C3-6792-2546-003341E59DEF}"/>
              </a:ext>
            </a:extLst>
          </p:cNvPr>
          <p:cNvSpPr>
            <a:spLocks noGrp="1"/>
          </p:cNvSpPr>
          <p:nvPr>
            <p:ph type="title"/>
          </p:nvPr>
        </p:nvSpPr>
        <p:spPr>
          <a:xfrm>
            <a:off x="838200" y="365125"/>
            <a:ext cx="10515600" cy="804913"/>
          </a:xfrm>
        </p:spPr>
        <p:txBody>
          <a:bodyPr>
            <a:normAutofit/>
          </a:bodyPr>
          <a:lstStyle/>
          <a:p>
            <a:r>
              <a:rPr lang="en-IN" b="1" u="sng" dirty="0"/>
              <a:t>Proposed Methodology</a:t>
            </a:r>
          </a:p>
        </p:txBody>
      </p:sp>
      <p:sp>
        <p:nvSpPr>
          <p:cNvPr id="6" name="Content Placeholder 5">
            <a:extLst>
              <a:ext uri="{FF2B5EF4-FFF2-40B4-BE49-F238E27FC236}">
                <a16:creationId xmlns:a16="http://schemas.microsoft.com/office/drawing/2014/main" id="{8C31125E-7919-9DCC-1731-6C55752E26D2}"/>
              </a:ext>
            </a:extLst>
          </p:cNvPr>
          <p:cNvSpPr>
            <a:spLocks noGrp="1"/>
          </p:cNvSpPr>
          <p:nvPr>
            <p:ph idx="1"/>
          </p:nvPr>
        </p:nvSpPr>
        <p:spPr>
          <a:xfrm>
            <a:off x="838200" y="1533832"/>
            <a:ext cx="10515600" cy="4643131"/>
          </a:xfrm>
        </p:spPr>
        <p:txBody>
          <a:bodyPr>
            <a:normAutofit fontScale="85000" lnSpcReduction="20000"/>
          </a:bodyPr>
          <a:lstStyle/>
          <a:p>
            <a:r>
              <a:rPr lang="en-US" b="1" dirty="0"/>
              <a:t>Data Collection, Preprocessing &amp; Splitting</a:t>
            </a:r>
          </a:p>
          <a:p>
            <a:pPr marL="0" indent="0">
              <a:buNone/>
            </a:pPr>
            <a:r>
              <a:rPr lang="en-US" sz="2400" dirty="0"/>
              <a:t>The data is gathered and prepared to ensure quality and consistency. It goes through cleaning, standardization, and encoding to remove errors and make it suitable for analysis. </a:t>
            </a:r>
          </a:p>
          <a:p>
            <a:pPr marL="0" indent="0">
              <a:buNone/>
            </a:pPr>
            <a:r>
              <a:rPr lang="en-US" sz="2400" dirty="0"/>
              <a:t>The refined data is then divided into training, validation, and testing sets to support accurate and balanced model learning.</a:t>
            </a:r>
          </a:p>
          <a:p>
            <a:pPr marL="0" indent="0">
              <a:buNone/>
            </a:pPr>
            <a:endParaRPr lang="en-US" sz="2400" dirty="0"/>
          </a:p>
          <a:p>
            <a:r>
              <a:rPr lang="en-US" b="1" dirty="0"/>
              <a:t>Model Development &amp; Network Integration</a:t>
            </a:r>
            <a:endParaRPr lang="en-US" dirty="0"/>
          </a:p>
          <a:p>
            <a:pPr marL="0" indent="0">
              <a:buNone/>
            </a:pPr>
            <a:r>
              <a:rPr lang="en-US" sz="2400" dirty="0"/>
              <a:t>The </a:t>
            </a:r>
            <a:r>
              <a:rPr lang="en-US" sz="2400" dirty="0" err="1"/>
              <a:t>DeepCLG</a:t>
            </a:r>
            <a:r>
              <a:rPr lang="en-US" sz="2400" dirty="0"/>
              <a:t> hybrid model combines </a:t>
            </a:r>
            <a:r>
              <a:rPr lang="en-US" sz="2400" b="1" dirty="0"/>
              <a:t>CNN</a:t>
            </a:r>
            <a:r>
              <a:rPr lang="en-US" sz="2400" dirty="0"/>
              <a:t>, </a:t>
            </a:r>
            <a:r>
              <a:rPr lang="en-US" sz="2400" b="1" dirty="0"/>
              <a:t>LSTM,</a:t>
            </a:r>
            <a:r>
              <a:rPr lang="en-US" sz="2400" dirty="0"/>
              <a:t> and </a:t>
            </a:r>
            <a:r>
              <a:rPr lang="en-US" sz="2400" b="1" dirty="0"/>
              <a:t>GRU</a:t>
            </a:r>
            <a:r>
              <a:rPr lang="en-US" sz="2400" dirty="0"/>
              <a:t> to capture patterns and sequences in the data. </a:t>
            </a:r>
          </a:p>
          <a:p>
            <a:pPr marL="0" indent="0">
              <a:buNone/>
            </a:pPr>
            <a:r>
              <a:rPr lang="en-US" sz="2400" dirty="0"/>
              <a:t>Its strengthens the understanding of data relationships and helps detect both known and new attacks accurately.</a:t>
            </a:r>
          </a:p>
          <a:p>
            <a:pPr marL="0" indent="0">
              <a:buNone/>
            </a:pPr>
            <a:endParaRPr lang="en-US" sz="2400" dirty="0"/>
          </a:p>
          <a:p>
            <a:r>
              <a:rPr lang="en-US" b="1" dirty="0"/>
              <a:t>Prediction &amp; Evaluation</a:t>
            </a:r>
          </a:p>
          <a:p>
            <a:pPr marL="0" indent="0">
              <a:buNone/>
            </a:pPr>
            <a:r>
              <a:rPr lang="en-US" sz="2200" dirty="0"/>
              <a:t>The model classifies network traffic as Normal or Attack. The performance is checked using accuracy, precision, recall, and F1-Score to ensure reliability</a:t>
            </a:r>
            <a:r>
              <a:rPr lang="en-US" dirty="0"/>
              <a: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665322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840E-D791-50A1-3A06-D2CF8829BC09}"/>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6CDF1346-442A-D273-01CA-E9C9B59D03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7352" y="1061471"/>
            <a:ext cx="4402325" cy="48347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BAD2E849-FBD1-0D13-7619-666BAC725D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323" y="1674069"/>
            <a:ext cx="7141107" cy="36095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3D318F06-6B3B-CA0D-4CCB-2D2D026E4AF9}"/>
              </a:ext>
            </a:extLst>
          </p:cNvPr>
          <p:cNvSpPr txBox="1"/>
          <p:nvPr/>
        </p:nvSpPr>
        <p:spPr>
          <a:xfrm>
            <a:off x="698090" y="5368413"/>
            <a:ext cx="5801033" cy="369332"/>
          </a:xfrm>
          <a:prstGeom prst="rect">
            <a:avLst/>
          </a:prstGeom>
          <a:noFill/>
        </p:spPr>
        <p:txBody>
          <a:bodyPr wrap="square" rtlCol="0">
            <a:spAutoFit/>
          </a:bodyPr>
          <a:lstStyle/>
          <a:p>
            <a:pPr algn="ctr"/>
            <a:r>
              <a:rPr lang="en-IN" dirty="0"/>
              <a:t>Fig : the methodology of the proposed model</a:t>
            </a:r>
          </a:p>
        </p:txBody>
      </p:sp>
      <p:sp>
        <p:nvSpPr>
          <p:cNvPr id="4" name="TextBox 3">
            <a:extLst>
              <a:ext uri="{FF2B5EF4-FFF2-40B4-BE49-F238E27FC236}">
                <a16:creationId xmlns:a16="http://schemas.microsoft.com/office/drawing/2014/main" id="{70BCC3EB-BDE5-D824-9F3B-E6702B9B66EF}"/>
              </a:ext>
            </a:extLst>
          </p:cNvPr>
          <p:cNvSpPr txBox="1"/>
          <p:nvPr/>
        </p:nvSpPr>
        <p:spPr>
          <a:xfrm>
            <a:off x="7167715" y="5997677"/>
            <a:ext cx="4925961" cy="369332"/>
          </a:xfrm>
          <a:prstGeom prst="rect">
            <a:avLst/>
          </a:prstGeom>
          <a:noFill/>
        </p:spPr>
        <p:txBody>
          <a:bodyPr wrap="square" rtlCol="0">
            <a:spAutoFit/>
          </a:bodyPr>
          <a:lstStyle/>
          <a:p>
            <a:pPr algn="ctr"/>
            <a:r>
              <a:rPr lang="en-IN" dirty="0"/>
              <a:t>     Fig : the proposed </a:t>
            </a:r>
            <a:r>
              <a:rPr lang="en-IN" dirty="0" err="1"/>
              <a:t>DeepCLG</a:t>
            </a:r>
            <a:r>
              <a:rPr lang="en-IN" dirty="0"/>
              <a:t> model architecture</a:t>
            </a:r>
          </a:p>
        </p:txBody>
      </p:sp>
    </p:spTree>
    <p:extLst>
      <p:ext uri="{BB962C8B-B14F-4D97-AF65-F5344CB8AC3E}">
        <p14:creationId xmlns:p14="http://schemas.microsoft.com/office/powerpoint/2010/main" val="2546984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DF279-D416-6FCC-0AA0-16CB90A761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021E23-E599-999F-EF1B-FD08BC1A4ADB}"/>
              </a:ext>
            </a:extLst>
          </p:cNvPr>
          <p:cNvSpPr>
            <a:spLocks noGrp="1"/>
          </p:cNvSpPr>
          <p:nvPr>
            <p:ph idx="1"/>
          </p:nvPr>
        </p:nvSpPr>
        <p:spPr/>
        <p:txBody>
          <a:bodyPr/>
          <a:lstStyle/>
          <a:p>
            <a:pPr marL="0" indent="0">
              <a:buNone/>
            </a:pPr>
            <a:r>
              <a:rPr lang="en-US" sz="2400" dirty="0"/>
              <a:t>The project effectively explored the security challenges in Healthcare IoT systems and demonstrated how deep learning can enhance intrusion detection. </a:t>
            </a:r>
          </a:p>
          <a:p>
            <a:pPr marL="0" indent="0">
              <a:buNone/>
            </a:pPr>
            <a:r>
              <a:rPr lang="en-US" sz="2400" dirty="0"/>
              <a:t>By analyzing the hybrid </a:t>
            </a:r>
            <a:r>
              <a:rPr lang="en-US" sz="2400" dirty="0" err="1"/>
              <a:t>DeepCLG</a:t>
            </a:r>
            <a:r>
              <a:rPr lang="en-US" sz="2400" dirty="0"/>
              <a:t> model, the study showed that combining CNN, LSTM, and GRU helps capture both spatial and temporal patterns more efficiently than traditional methods. </a:t>
            </a:r>
          </a:p>
          <a:p>
            <a:pPr marL="0" indent="0">
              <a:buNone/>
            </a:pPr>
            <a:r>
              <a:rPr lang="en-US" sz="2400" dirty="0"/>
              <a:t>Using the </a:t>
            </a:r>
            <a:r>
              <a:rPr lang="en-US" sz="2400" b="1" dirty="0"/>
              <a:t>CICIoT2023 and UNSW-NB15 dataset </a:t>
            </a:r>
            <a:r>
              <a:rPr lang="en-US" sz="2400" dirty="0"/>
              <a:t>with proper preprocessing further strengthened the model’s reliability. </a:t>
            </a:r>
            <a:endParaRPr lang="en-IN" sz="2400" dirty="0"/>
          </a:p>
          <a:p>
            <a:endParaRPr lang="en-IN" dirty="0"/>
          </a:p>
        </p:txBody>
      </p:sp>
    </p:spTree>
    <p:extLst>
      <p:ext uri="{BB962C8B-B14F-4D97-AF65-F5344CB8AC3E}">
        <p14:creationId xmlns:p14="http://schemas.microsoft.com/office/powerpoint/2010/main" val="168458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CEB90-15A0-E164-9EFE-2D463526DECA}"/>
              </a:ext>
            </a:extLst>
          </p:cNvPr>
          <p:cNvSpPr>
            <a:spLocks noGrp="1"/>
          </p:cNvSpPr>
          <p:nvPr>
            <p:ph type="title"/>
          </p:nvPr>
        </p:nvSpPr>
        <p:spPr/>
        <p:txBody>
          <a:bodyPr/>
          <a:lstStyle/>
          <a:p>
            <a:r>
              <a:rPr lang="en-IN" b="1" u="sng" dirty="0"/>
              <a:t>Result</a:t>
            </a:r>
            <a:r>
              <a:rPr lang="en-IN" dirty="0"/>
              <a:t> </a:t>
            </a:r>
          </a:p>
        </p:txBody>
      </p:sp>
      <p:sp>
        <p:nvSpPr>
          <p:cNvPr id="7" name="Content Placeholder 6">
            <a:extLst>
              <a:ext uri="{FF2B5EF4-FFF2-40B4-BE49-F238E27FC236}">
                <a16:creationId xmlns:a16="http://schemas.microsoft.com/office/drawing/2014/main" id="{1234EB66-C7D9-070A-E589-FA4BD23F3684}"/>
              </a:ext>
            </a:extLst>
          </p:cNvPr>
          <p:cNvSpPr>
            <a:spLocks noGrp="1"/>
          </p:cNvSpPr>
          <p:nvPr>
            <p:ph idx="1"/>
          </p:nvPr>
        </p:nvSpPr>
        <p:spPr>
          <a:xfrm>
            <a:off x="838200" y="1386348"/>
            <a:ext cx="10515600" cy="5289755"/>
          </a:xfrm>
        </p:spPr>
        <p:txBody>
          <a:bodyPr>
            <a:normAutofit/>
          </a:bodyPr>
          <a:lstStyle/>
          <a:p>
            <a:pPr marL="0" indent="0">
              <a:buNone/>
            </a:pPr>
            <a:r>
              <a:rPr lang="en-US" sz="2100" dirty="0"/>
              <a:t>three models were tested on the </a:t>
            </a:r>
            <a:r>
              <a:rPr lang="en-US" sz="2100" b="1" dirty="0"/>
              <a:t>UNSW-NB15 dataset</a:t>
            </a:r>
            <a:r>
              <a:rPr lang="en-US" sz="2100" dirty="0"/>
              <a:t> for intrusion detection;</a:t>
            </a:r>
          </a:p>
          <a:p>
            <a:pPr marL="0" indent="0">
              <a:buNone/>
            </a:pPr>
            <a:r>
              <a:rPr lang="en-US" sz="2100" b="1" dirty="0"/>
              <a:t>Logistic Regression</a:t>
            </a:r>
            <a:r>
              <a:rPr lang="en-US" sz="2100" dirty="0"/>
              <a:t> was used as the baseline model, but it gave low performance because it cannot handle complex network patterns properly. </a:t>
            </a:r>
            <a:br>
              <a:rPr lang="en-US" sz="2100" dirty="0"/>
            </a:br>
            <a:r>
              <a:rPr lang="en-US" sz="2100" dirty="0"/>
              <a:t>After that, </a:t>
            </a:r>
            <a:r>
              <a:rPr lang="en-US" sz="2100" b="1" dirty="0"/>
              <a:t>Random Forest</a:t>
            </a:r>
            <a:r>
              <a:rPr lang="en-US" sz="2100" dirty="0"/>
              <a:t> was applied and tuned using </a:t>
            </a:r>
            <a:r>
              <a:rPr lang="en-US" sz="2100" b="1" dirty="0" err="1"/>
              <a:t>RandomizedSearchCV</a:t>
            </a:r>
            <a:r>
              <a:rPr lang="en-US" sz="2100" dirty="0"/>
              <a:t>. It improved precision but recall was still very low, meaning many attacks were not detected.</a:t>
            </a:r>
            <a:br>
              <a:rPr lang="en-US" sz="2100" dirty="0"/>
            </a:br>
            <a:r>
              <a:rPr lang="en-US" sz="2100" dirty="0"/>
              <a:t>Finally, the </a:t>
            </a:r>
            <a:r>
              <a:rPr lang="en-US" sz="2100" b="1" dirty="0"/>
              <a:t>Extra Trees Classifier</a:t>
            </a:r>
            <a:r>
              <a:rPr lang="en-US" sz="2100" dirty="0"/>
              <a:t> gave the best results with high accuracy, precision, recall, and F1-score.</a:t>
            </a:r>
          </a:p>
          <a:p>
            <a:pPr marL="0" indent="0">
              <a:buNone/>
            </a:pPr>
            <a:endParaRPr lang="en-IN" sz="2000" dirty="0"/>
          </a:p>
        </p:txBody>
      </p:sp>
      <p:pic>
        <p:nvPicPr>
          <p:cNvPr id="12" name="Picture 11">
            <a:extLst>
              <a:ext uri="{FF2B5EF4-FFF2-40B4-BE49-F238E27FC236}">
                <a16:creationId xmlns:a16="http://schemas.microsoft.com/office/drawing/2014/main" id="{049220F7-BD1B-896D-3BAE-D7509E01C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883742"/>
            <a:ext cx="10515600" cy="22541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TextBox 13">
            <a:extLst>
              <a:ext uri="{FF2B5EF4-FFF2-40B4-BE49-F238E27FC236}">
                <a16:creationId xmlns:a16="http://schemas.microsoft.com/office/drawing/2014/main" id="{81DAC5EF-51FC-5C11-9277-A2398C4BE5A9}"/>
              </a:ext>
            </a:extLst>
          </p:cNvPr>
          <p:cNvSpPr txBox="1"/>
          <p:nvPr/>
        </p:nvSpPr>
        <p:spPr>
          <a:xfrm>
            <a:off x="838200" y="6243484"/>
            <a:ext cx="10515600" cy="646331"/>
          </a:xfrm>
          <a:prstGeom prst="rect">
            <a:avLst/>
          </a:prstGeom>
          <a:noFill/>
        </p:spPr>
        <p:txBody>
          <a:bodyPr wrap="square" rtlCol="0">
            <a:spAutoFit/>
          </a:bodyPr>
          <a:lstStyle/>
          <a:p>
            <a:pPr algn="ctr"/>
            <a:r>
              <a:rPr lang="en-IN" dirty="0"/>
              <a:t>Fig : a comparison table based on the performance of the models (results for class 1 data)</a:t>
            </a:r>
          </a:p>
          <a:p>
            <a:endParaRPr lang="en-IN" dirty="0"/>
          </a:p>
        </p:txBody>
      </p:sp>
    </p:spTree>
    <p:extLst>
      <p:ext uri="{BB962C8B-B14F-4D97-AF65-F5344CB8AC3E}">
        <p14:creationId xmlns:p14="http://schemas.microsoft.com/office/powerpoint/2010/main" val="295962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5ED6C-8303-FC6F-153F-5D70C3A340E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A25754C-80C2-0B08-3C36-66A476C141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1522" y="738072"/>
            <a:ext cx="9928955" cy="5381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0883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0B5C-E32F-CC52-F9AD-3397D64803D3}"/>
              </a:ext>
            </a:extLst>
          </p:cNvPr>
          <p:cNvSpPr>
            <a:spLocks noGrp="1"/>
          </p:cNvSpPr>
          <p:nvPr>
            <p:ph type="title"/>
          </p:nvPr>
        </p:nvSpPr>
        <p:spPr/>
        <p:txBody>
          <a:bodyPr>
            <a:normAutofit/>
          </a:bodyPr>
          <a:lstStyle/>
          <a:p>
            <a:r>
              <a:rPr lang="en-IN" b="1" u="sng" dirty="0"/>
              <a:t>Outcomes</a:t>
            </a:r>
          </a:p>
        </p:txBody>
      </p:sp>
      <p:sp>
        <p:nvSpPr>
          <p:cNvPr id="3" name="Content Placeholder 2">
            <a:extLst>
              <a:ext uri="{FF2B5EF4-FFF2-40B4-BE49-F238E27FC236}">
                <a16:creationId xmlns:a16="http://schemas.microsoft.com/office/drawing/2014/main" id="{25C1BB9B-E281-E6AD-7329-A676356A5B7C}"/>
              </a:ext>
            </a:extLst>
          </p:cNvPr>
          <p:cNvSpPr>
            <a:spLocks noGrp="1"/>
          </p:cNvSpPr>
          <p:nvPr>
            <p:ph idx="1"/>
          </p:nvPr>
        </p:nvSpPr>
        <p:spPr/>
        <p:txBody>
          <a:bodyPr/>
          <a:lstStyle/>
          <a:p>
            <a:r>
              <a:rPr lang="en-IN" sz="2400" b="1" dirty="0"/>
              <a:t>the real time deployment of the model</a:t>
            </a:r>
            <a:r>
              <a:rPr lang="en-US" sz="2400" b="1" dirty="0"/>
              <a:t> (partially completed)</a:t>
            </a:r>
            <a:br>
              <a:rPr lang="en-US" sz="2400" dirty="0"/>
            </a:br>
            <a:r>
              <a:rPr lang="en-US" sz="2000" dirty="0"/>
              <a:t>A Machine Learning based Network Intrusion Detection System (NIDS) has been developed using the UNSW-NB15 dataset. The system successfully classifies network traffic as normal or attack using models like Logistic Regression, Random Forest, and Extra Trees Classifier.</a:t>
            </a:r>
          </a:p>
          <a:p>
            <a:r>
              <a:rPr lang="en-US" sz="2400" b="1" dirty="0"/>
              <a:t>achievement of my outcome</a:t>
            </a:r>
            <a:br>
              <a:rPr lang="en-US" sz="2000" dirty="0"/>
            </a:br>
            <a:r>
              <a:rPr lang="en-US" sz="2000" dirty="0"/>
              <a:t>I was able to inculcate the Extra Trees Classifier, which in return provided me with the best results, accuracy and balanced performance based on Precision, Recall, F1-score, ROC-AUC and PR-AUC metrics.</a:t>
            </a:r>
          </a:p>
          <a:p>
            <a:r>
              <a:rPr lang="en-US" sz="2400" b="1" dirty="0"/>
              <a:t>the future scope of the project</a:t>
            </a:r>
            <a:br>
              <a:rPr lang="en-US" sz="2000" dirty="0"/>
            </a:br>
            <a:r>
              <a:rPr lang="en-US" sz="2000" dirty="0"/>
              <a:t>The developed model can be extended for real-time intrusion monitoring and deployment in cybersecurity environments.</a:t>
            </a:r>
            <a:endParaRPr lang="en-IN" sz="2000" dirty="0"/>
          </a:p>
        </p:txBody>
      </p:sp>
    </p:spTree>
    <p:extLst>
      <p:ext uri="{BB962C8B-B14F-4D97-AF65-F5344CB8AC3E}">
        <p14:creationId xmlns:p14="http://schemas.microsoft.com/office/powerpoint/2010/main" val="418380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b="1" u="sng"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a:xfrm>
            <a:off x="838200" y="1415845"/>
            <a:ext cx="10515600" cy="4761118"/>
          </a:xfrm>
        </p:spPr>
        <p:txBody>
          <a:bodyPr>
            <a:normAutofit fontScale="92500" lnSpcReduction="10000"/>
          </a:bodyPr>
          <a:lstStyle/>
          <a:p>
            <a:pPr>
              <a:buFont typeface="Wingdings" panose="05000000000000000000" pitchFamily="2" charset="2"/>
              <a:buChar char="§"/>
            </a:pPr>
            <a:endParaRPr lang="en-IN" sz="2000" dirty="0"/>
          </a:p>
          <a:p>
            <a:pPr>
              <a:buFont typeface="Wingdings" panose="05000000000000000000" pitchFamily="2" charset="2"/>
              <a:buChar char="§"/>
            </a:pPr>
            <a:r>
              <a:rPr lang="en-IN" sz="2000" dirty="0"/>
              <a:t>Enhancing network security in industrial IoT environments: a </a:t>
            </a:r>
            <a:r>
              <a:rPr lang="en-IN" sz="2000" dirty="0" err="1"/>
              <a:t>DeepCLG</a:t>
            </a:r>
            <a:r>
              <a:rPr lang="en-IN" sz="2000" dirty="0"/>
              <a:t> hybrid learning model for cyberattack detection - Gulzar, Q., Mustafa, K. ; </a:t>
            </a:r>
          </a:p>
          <a:p>
            <a:pPr marL="0" indent="0">
              <a:buNone/>
            </a:pPr>
            <a:r>
              <a:rPr lang="en-IN" sz="2000" dirty="0"/>
              <a:t>(published: 24 January 2025)</a:t>
            </a:r>
          </a:p>
          <a:p>
            <a:pPr marL="0" indent="0">
              <a:buNone/>
            </a:pPr>
            <a:r>
              <a:rPr lang="en-US" sz="2000" dirty="0"/>
              <a:t>International Journal of Machine Learning and Cybernetics</a:t>
            </a:r>
          </a:p>
          <a:p>
            <a:pPr marL="0" indent="0">
              <a:buNone/>
            </a:pPr>
            <a:endParaRPr lang="en-IN" sz="2000" dirty="0"/>
          </a:p>
          <a:p>
            <a:pPr>
              <a:buFont typeface="Wingdings" panose="05000000000000000000" pitchFamily="2" charset="2"/>
              <a:buChar char="§"/>
            </a:pPr>
            <a:r>
              <a:rPr lang="en-US" sz="2000" dirty="0"/>
              <a:t>Security and Privacy Issues with IoT in Healthcare - Chacko, Anil; </a:t>
            </a:r>
            <a:r>
              <a:rPr lang="en-US" sz="2000" dirty="0" err="1"/>
              <a:t>Hayajneh</a:t>
            </a:r>
            <a:r>
              <a:rPr lang="en-US" sz="2000" dirty="0"/>
              <a:t>, Thaier.  </a:t>
            </a:r>
          </a:p>
          <a:p>
            <a:pPr marL="0" indent="0">
              <a:buNone/>
            </a:pPr>
            <a:r>
              <a:rPr lang="en-US" sz="2000" dirty="0"/>
              <a:t>(published: Jul 2018).</a:t>
            </a:r>
          </a:p>
          <a:p>
            <a:pPr marL="0" indent="0">
              <a:buNone/>
            </a:pPr>
            <a:r>
              <a:rPr lang="en-US" sz="2000" dirty="0"/>
              <a:t>EAI Endorsed Transactions on Pervasive Health and Technology; Ghent Vol. 4, </a:t>
            </a:r>
            <a:r>
              <a:rPr lang="en-US" sz="2000" dirty="0" err="1"/>
              <a:t>Iss</a:t>
            </a:r>
            <a:r>
              <a:rPr lang="en-US" sz="2000" dirty="0"/>
              <a:t>. 14.</a:t>
            </a:r>
          </a:p>
          <a:p>
            <a:pPr marL="0" indent="0">
              <a:buNone/>
            </a:pPr>
            <a:r>
              <a:rPr lang="en-US" sz="2000" dirty="0"/>
              <a:t>Fordham Center for Cybersecurity, Fordham University, New York, NY, USA</a:t>
            </a:r>
          </a:p>
          <a:p>
            <a:pPr marL="0" indent="0">
              <a:buNone/>
            </a:pPr>
            <a:endParaRPr lang="en-US" sz="2000" dirty="0"/>
          </a:p>
          <a:p>
            <a:pPr>
              <a:buFont typeface="Wingdings" panose="05000000000000000000" pitchFamily="2" charset="2"/>
              <a:buChar char="§"/>
            </a:pPr>
            <a:r>
              <a:rPr lang="en-US" sz="2000" dirty="0"/>
              <a:t>M. Adil et al., "Healthcare Internet of Things: Security Threats, Challenges, and Future Research Directions,"  (published : 1</a:t>
            </a:r>
            <a:r>
              <a:rPr lang="en-US" sz="2000" baseline="30000" dirty="0"/>
              <a:t>st</a:t>
            </a:r>
            <a:r>
              <a:rPr lang="en-US" sz="2000" dirty="0"/>
              <a:t> June, 2024)</a:t>
            </a:r>
          </a:p>
          <a:p>
            <a:pPr marL="0" indent="0">
              <a:buNone/>
            </a:pPr>
            <a:r>
              <a:rPr lang="en-US" sz="2000" dirty="0"/>
              <a:t>IEEE Internet of Things Journal, vol. 11, no. 11</a:t>
            </a:r>
          </a:p>
          <a:p>
            <a:pPr marL="0" indent="0">
              <a:buNone/>
            </a:pPr>
            <a:endParaRPr lang="en-US" sz="2000" dirty="0"/>
          </a:p>
          <a:p>
            <a:pPr marL="0" indent="0">
              <a:buNone/>
            </a:pPr>
            <a:endParaRPr lang="en-US" sz="2000" dirty="0"/>
          </a:p>
          <a:p>
            <a:pPr marL="0" indent="0">
              <a:buNone/>
            </a:pPr>
            <a:endParaRPr lang="en-IN" sz="2000" dirty="0"/>
          </a:p>
        </p:txBody>
      </p:sp>
    </p:spTree>
    <p:extLst>
      <p:ext uri="{BB962C8B-B14F-4D97-AF65-F5344CB8AC3E}">
        <p14:creationId xmlns:p14="http://schemas.microsoft.com/office/powerpoint/2010/main" val="2724917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normAutofit/>
          </a:bodyPr>
          <a:lstStyle/>
          <a:p>
            <a:r>
              <a:rPr lang="en-IN" sz="5000" b="1" dirty="0"/>
              <a:t>Thank You !</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1910</TotalTime>
  <Words>1187</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  Network Anomaly detection in Healthcare IOT environment </vt:lpstr>
      <vt:lpstr>Introduction</vt:lpstr>
      <vt:lpstr>PowerPoint Presentation</vt:lpstr>
      <vt:lpstr>PowerPoint Presentation</vt:lpstr>
      <vt:lpstr>Problem Statement</vt:lpstr>
      <vt:lpstr>Objectives</vt:lpstr>
      <vt:lpstr>Proposed Methodology</vt:lpstr>
      <vt:lpstr>PowerPoint Presentation</vt:lpstr>
      <vt:lpstr>PowerPoint Presentation</vt:lpstr>
      <vt:lpstr>Result </vt:lpstr>
      <vt:lpstr>PowerPoint Presentation</vt:lpstr>
      <vt:lpstr>Outcomes</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Ishit Kaushik</cp:lastModifiedBy>
  <cp:revision>11</cp:revision>
  <dcterms:created xsi:type="dcterms:W3CDTF">2025-09-29T05:03:41Z</dcterms:created>
  <dcterms:modified xsi:type="dcterms:W3CDTF">2026-02-15T17:23:17Z</dcterms:modified>
</cp:coreProperties>
</file>